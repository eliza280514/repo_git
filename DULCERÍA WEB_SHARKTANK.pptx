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1710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7259" y="3179474"/>
            <a:ext cx="4703192" cy="3730180"/>
          </a:xfrm>
        </p:spPr>
        <p:txBody>
          <a:bodyPr anchor="b">
            <a:noAutofit/>
          </a:bodyPr>
          <a:lstStyle>
            <a:lvl1pPr algn="ctr">
              <a:defRPr sz="45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48" y="7033388"/>
            <a:ext cx="3842816" cy="193108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483" y="11472686"/>
            <a:ext cx="904469" cy="7193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31" y="11472686"/>
            <a:ext cx="3950650" cy="7193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29760" y="11472686"/>
            <a:ext cx="897914" cy="7193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  <p:grpSp>
        <p:nvGrpSpPr>
          <p:cNvPr id="8" name="Group 7"/>
          <p:cNvGrpSpPr/>
          <p:nvPr/>
        </p:nvGrpSpPr>
        <p:grpSpPr>
          <a:xfrm>
            <a:off x="423483" y="1323501"/>
            <a:ext cx="6004192" cy="9510526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4734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619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27" y="2313532"/>
            <a:ext cx="5407296" cy="5071532"/>
          </a:xfrm>
        </p:spPr>
        <p:txBody>
          <a:bodyPr anchor="b">
            <a:normAutofit/>
          </a:bodyPr>
          <a:lstStyle>
            <a:lvl1pPr algn="r">
              <a:defRPr sz="45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327" y="7495694"/>
            <a:ext cx="5407296" cy="2032576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15636" y="11472686"/>
            <a:ext cx="912605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676" y="11472686"/>
            <a:ext cx="3950650" cy="7193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29760" y="11472686"/>
            <a:ext cx="897914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4585479" y="2996715"/>
            <a:ext cx="1842195" cy="7837312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4585479" y="2996715"/>
            <a:ext cx="1842195" cy="7837312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84843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1525" y="4064001"/>
            <a:ext cx="2501880" cy="636693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0539" y="4064001"/>
            <a:ext cx="2501880" cy="63669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083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219200"/>
            <a:ext cx="5400675" cy="2641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1525" y="4160409"/>
            <a:ext cx="2501880" cy="146473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0" baseline="0">
                <a:solidFill>
                  <a:schemeClr val="tx2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526" y="5875926"/>
            <a:ext cx="2501879" cy="455501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70320" y="4177341"/>
            <a:ext cx="2501880" cy="146473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0" baseline="0">
                <a:solidFill>
                  <a:schemeClr val="tx2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70320" y="5875926"/>
            <a:ext cx="2501880" cy="4555010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943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651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135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668"/>
            <a:ext cx="2983230" cy="12191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194" y="1219200"/>
            <a:ext cx="2168843" cy="3836238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3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011" y="1219202"/>
            <a:ext cx="2931795" cy="9200444"/>
          </a:xfrm>
        </p:spPr>
        <p:txBody>
          <a:bodyPr/>
          <a:lstStyle>
            <a:lvl1pPr>
              <a:defRPr sz="1125"/>
            </a:lvl1pPr>
            <a:lvl2pPr>
              <a:defRPr sz="1125"/>
            </a:lvl2pPr>
            <a:lvl3pPr>
              <a:defRPr sz="1013"/>
            </a:lvl3pPr>
            <a:lvl4pPr>
              <a:defRPr sz="1013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7194" y="5077945"/>
            <a:ext cx="2168843" cy="5352988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7194" y="11472686"/>
            <a:ext cx="677572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40844" y="11472686"/>
            <a:ext cx="1335192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59267" y="11472686"/>
            <a:ext cx="897914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2983230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2983230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166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668"/>
            <a:ext cx="2983230" cy="12191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194" y="1219200"/>
            <a:ext cx="2168843" cy="3836238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3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11817" y="3"/>
            <a:ext cx="3746183" cy="12191998"/>
          </a:xfrm>
        </p:spPr>
        <p:txBody>
          <a:bodyPr anchor="t">
            <a:normAutofit/>
          </a:bodyPr>
          <a:lstStyle>
            <a:lvl1pPr marL="0" indent="0">
              <a:buNone/>
              <a:defRPr sz="1125"/>
            </a:lvl1pPr>
            <a:lvl2pPr marL="257175" indent="0">
              <a:buNone/>
              <a:defRPr sz="1125"/>
            </a:lvl2pPr>
            <a:lvl3pPr marL="514350" indent="0">
              <a:buNone/>
              <a:defRPr sz="1125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7194" y="5077276"/>
            <a:ext cx="2168843" cy="5353657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7194" y="11472686"/>
            <a:ext cx="677572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40844" y="11472686"/>
            <a:ext cx="1335192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59267" y="11472686"/>
            <a:ext cx="897914" cy="7193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2983230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2983230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4258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4080936"/>
            <a:ext cx="5400675" cy="63500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785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60598" y="1109611"/>
            <a:ext cx="1118213" cy="93213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1109611"/>
            <a:ext cx="4293394" cy="93213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660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1525" y="1219200"/>
            <a:ext cx="5400675" cy="2641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1525" y="4064000"/>
            <a:ext cx="5400675" cy="6366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241" y="11472686"/>
            <a:ext cx="677572" cy="719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aseline="0">
                <a:solidFill>
                  <a:schemeClr val="tx2"/>
                </a:solidFill>
              </a:defRPr>
            </a:lvl1pPr>
          </a:lstStyle>
          <a:p>
            <a:fld id="{47EE2F11-0A1E-4638-9DE3-820FA3D223A0}" type="datetimeFigureOut">
              <a:rPr lang="es-MX" smtClean="0"/>
              <a:t>21/11/2024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27630" y="11472686"/>
            <a:ext cx="3532967" cy="719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8415" y="11472686"/>
            <a:ext cx="897914" cy="719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aseline="0">
                <a:solidFill>
                  <a:schemeClr val="tx2"/>
                </a:solidFill>
              </a:defRPr>
            </a:lvl1pPr>
          </a:lstStyle>
          <a:p>
            <a:fld id="{A6407D21-6B0A-4EEB-A053-A0242119B791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268928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268928" y="668"/>
            <a:ext cx="128588" cy="1219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680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51435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51435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B226E-B8AE-A1BB-7683-7B46E29AD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DULCERÍA WEB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F3E352-1A36-33A0-A126-F022B7F69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7286017"/>
            <a:ext cx="5143500" cy="2061183"/>
          </a:xfrm>
        </p:spPr>
        <p:txBody>
          <a:bodyPr/>
          <a:lstStyle/>
          <a:p>
            <a:r>
              <a:rPr lang="es-MX" dirty="0"/>
              <a:t>Integrantes: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Gómez García Elizabeth-Project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Castro San Agustín Laura- Desarrollador.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Herrera </a:t>
            </a:r>
            <a:r>
              <a:rPr lang="es-MX" dirty="0" err="1"/>
              <a:t>Gutierrez</a:t>
            </a:r>
            <a:r>
              <a:rPr lang="es-MX" dirty="0"/>
              <a:t> Armando- Diseñador UX/UI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8A3370-76BB-D376-8428-C5857ADD7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9" t="17250" r="21143" b="32609"/>
          <a:stretch/>
        </p:blipFill>
        <p:spPr>
          <a:xfrm>
            <a:off x="661480" y="1531566"/>
            <a:ext cx="5525311" cy="32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9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4EAA4-4518-07BF-7192-EB53D9511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205" y="3179474"/>
            <a:ext cx="5632314" cy="3816000"/>
          </a:xfrm>
        </p:spPr>
        <p:txBody>
          <a:bodyPr/>
          <a:lstStyle/>
          <a:p>
            <a:r>
              <a:rPr lang="es-MX" sz="6600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CRONOGRAMA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8E9C2E-F708-18E3-F639-BDF72D8A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512" y="3268494"/>
            <a:ext cx="2165215" cy="216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8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9DCF413E-914A-B8E3-B2BA-D6701E77B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00" y="2306472"/>
            <a:ext cx="5999225" cy="649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6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16C54-8FFF-4B55-377B-88334320E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259" y="3179474"/>
            <a:ext cx="4703192" cy="1529004"/>
          </a:xfrm>
        </p:spPr>
        <p:txBody>
          <a:bodyPr/>
          <a:lstStyle/>
          <a:p>
            <a:r>
              <a:rPr lang="es-MX" dirty="0"/>
              <a:t>HORAS DEDICADAS AL PROYECTO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6A0AF2-952C-58BA-A582-7EBB7E7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63" t="16847" r="35522" b="20855"/>
          <a:stretch/>
        </p:blipFill>
        <p:spPr>
          <a:xfrm>
            <a:off x="976911" y="5022377"/>
            <a:ext cx="4903888" cy="46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7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9E5F58B-E418-B015-64B7-2EA3DBA8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56" t="26049" r="30547" b="32892"/>
          <a:stretch/>
        </p:blipFill>
        <p:spPr>
          <a:xfrm>
            <a:off x="1004792" y="1460310"/>
            <a:ext cx="4848249" cy="27568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B8F8A14-89F5-FBD1-CEAB-8809975987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67" t="16137" r="31940" b="12364"/>
          <a:stretch/>
        </p:blipFill>
        <p:spPr>
          <a:xfrm>
            <a:off x="1004875" y="4112526"/>
            <a:ext cx="4848333" cy="470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4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6A35791-F852-7CEA-BD55-2CBAC18EB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205" y="2280000"/>
            <a:ext cx="5632314" cy="3816000"/>
          </a:xfrm>
        </p:spPr>
        <p:txBody>
          <a:bodyPr/>
          <a:lstStyle/>
          <a:p>
            <a:r>
              <a:rPr lang="es-MX" sz="6600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VIABILIDAD ECONÓMICA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CC9A85-6F6D-5FFB-1A10-007D2C602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49" y="5918578"/>
            <a:ext cx="4181101" cy="322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03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67BB534-7587-3E60-4F64-32F510AF4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09290"/>
              </p:ext>
            </p:extLst>
          </p:nvPr>
        </p:nvGraphicFramePr>
        <p:xfrm>
          <a:off x="993924" y="6211689"/>
          <a:ext cx="5219065" cy="4120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8174">
                  <a:extLst>
                    <a:ext uri="{9D8B030D-6E8A-4147-A177-3AD203B41FA5}">
                      <a16:colId xmlns:a16="http://schemas.microsoft.com/office/drawing/2014/main" val="528255465"/>
                    </a:ext>
                  </a:extLst>
                </a:gridCol>
                <a:gridCol w="1490526">
                  <a:extLst>
                    <a:ext uri="{9D8B030D-6E8A-4147-A177-3AD203B41FA5}">
                      <a16:colId xmlns:a16="http://schemas.microsoft.com/office/drawing/2014/main" val="3926731516"/>
                    </a:ext>
                  </a:extLst>
                </a:gridCol>
                <a:gridCol w="1480365">
                  <a:extLst>
                    <a:ext uri="{9D8B030D-6E8A-4147-A177-3AD203B41FA5}">
                      <a16:colId xmlns:a16="http://schemas.microsoft.com/office/drawing/2014/main" val="1003430946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marL="6350" marR="4889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Fases del proyecto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8255" marR="889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Duración Estimada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Costo Específico en $MXN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extLst>
                  <a:ext uri="{0D108BD9-81ED-4DB2-BD59-A6C34878D82A}">
                    <a16:rowId xmlns:a16="http://schemas.microsoft.com/office/drawing/2014/main" val="572833922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95"/>
                        </a:spcAft>
                      </a:pPr>
                      <a:r>
                        <a:rPr lang="es-MX" sz="1200" kern="100">
                          <a:effectLst/>
                        </a:rPr>
                        <a:t>1. Análisis y Diseño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75"/>
                        </a:spcAft>
                      </a:pPr>
                      <a:r>
                        <a:rPr lang="es-MX" sz="1200" kern="100">
                          <a:effectLst/>
                        </a:rPr>
                        <a:t>-Análisis de Requisitos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95"/>
                        </a:spcAft>
                      </a:pPr>
                      <a:r>
                        <a:rPr lang="es-MX" sz="1200" kern="100">
                          <a:effectLst/>
                        </a:rPr>
                        <a:t>-Diseño de Arquitectura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-Diseño de UX/UI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3 semanas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marR="4064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$30,000 MXN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extLst>
                  <a:ext uri="{0D108BD9-81ED-4DB2-BD59-A6C34878D82A}">
                    <a16:rowId xmlns:a16="http://schemas.microsoft.com/office/drawing/2014/main" val="2791390069"/>
                  </a:ext>
                </a:extLst>
              </a:tr>
              <a:tr h="1585595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75"/>
                        </a:spcAft>
                      </a:pPr>
                      <a:r>
                        <a:rPr lang="es-MX" sz="1200" kern="100">
                          <a:effectLst/>
                        </a:rPr>
                        <a:t>2. Desarrollo del Backend 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95"/>
                        </a:spcAft>
                      </a:pPr>
                      <a:r>
                        <a:rPr lang="es-MX" sz="1200" kern="100">
                          <a:effectLst/>
                        </a:rPr>
                        <a:t>-Módulo de Inventario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675"/>
                        </a:spcAft>
                      </a:pPr>
                      <a:r>
                        <a:rPr lang="es-MX" sz="1200" kern="100">
                          <a:effectLst/>
                        </a:rPr>
                        <a:t>-Módulo de Ventas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35"/>
                        </a:spcAft>
                        <a:tabLst>
                          <a:tab pos="2153285" algn="r"/>
                        </a:tabLst>
                      </a:pPr>
                      <a:r>
                        <a:rPr lang="es-MX" sz="1200" kern="100">
                          <a:effectLst/>
                        </a:rPr>
                        <a:t>-Conexión 	Multi-sucursal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80"/>
                        </a:spcAft>
                      </a:pPr>
                      <a:r>
                        <a:rPr lang="es-MX" sz="1200" kern="100">
                          <a:effectLst/>
                        </a:rPr>
                        <a:t>(sincronización en la nube)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-Creación de APIs RESTful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8 semanas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</a:pPr>
                      <a:r>
                        <a:rPr lang="es-MX" sz="1200" kern="100">
                          <a:effectLst/>
                        </a:rPr>
                        <a:t>$100,000 MXN </a:t>
                      </a:r>
                    </a:p>
                    <a:p>
                      <a:pPr marL="190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extLst>
                  <a:ext uri="{0D108BD9-81ED-4DB2-BD59-A6C34878D82A}">
                    <a16:rowId xmlns:a16="http://schemas.microsoft.com/office/drawing/2014/main" val="148446100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30"/>
                        </a:spcAft>
                      </a:pPr>
                      <a:r>
                        <a:rPr lang="es-MX" sz="1200" kern="100">
                          <a:effectLst/>
                        </a:rPr>
                        <a:t>3. Desarrollo del Frontend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15"/>
                        </a:spcAft>
                        <a:tabLst>
                          <a:tab pos="899795" algn="ctr"/>
                          <a:tab pos="1349375" algn="ctr"/>
                        </a:tabLst>
                      </a:pPr>
                      <a:r>
                        <a:rPr lang="es-MX" sz="1200" kern="100">
                          <a:effectLst/>
                        </a:rPr>
                        <a:t>(POS)  	 	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-Desarrollo de Interfaz POS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6 semanas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tc>
                  <a:txBody>
                    <a:bodyPr/>
                    <a:lstStyle/>
                    <a:p>
                      <a:pPr marL="1905" indent="-6350" algn="l">
                        <a:lnSpc>
                          <a:spcPct val="107000"/>
                        </a:lnSpc>
                        <a:spcAft>
                          <a:spcPts val="590"/>
                        </a:spcAft>
                      </a:pPr>
                      <a:r>
                        <a:rPr lang="es-MX" sz="1200" kern="100" dirty="0">
                          <a:effectLst/>
                        </a:rPr>
                        <a:t>$80,000 MXN </a:t>
                      </a:r>
                    </a:p>
                    <a:p>
                      <a:pPr marL="190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5" marR="27940" marT="32385" marB="0"/>
                </a:tc>
                <a:extLst>
                  <a:ext uri="{0D108BD9-81ED-4DB2-BD59-A6C34878D82A}">
                    <a16:rowId xmlns:a16="http://schemas.microsoft.com/office/drawing/2014/main" val="1427112778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97AFFE1-EBA8-415A-1AA7-A41AAFEE67E9}"/>
              </a:ext>
            </a:extLst>
          </p:cNvPr>
          <p:cNvSpPr txBox="1"/>
          <p:nvPr/>
        </p:nvSpPr>
        <p:spPr>
          <a:xfrm>
            <a:off x="505326" y="421105"/>
            <a:ext cx="61962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1.	Costos iniciales: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Desarrollo de la aplicación web (personal y herramientas):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Salarios del equipo (4 personas: desarrollador, diseñador, </a:t>
            </a:r>
            <a:r>
              <a:rPr lang="es-MX" dirty="0" err="1"/>
              <a:t>project</a:t>
            </a:r>
            <a:r>
              <a:rPr lang="es-MX" dirty="0"/>
              <a:t> manager, etc.): </a:t>
            </a:r>
          </a:p>
          <a:p>
            <a:r>
              <a:rPr lang="es-MX" dirty="0"/>
              <a:t>$30,000 - $60,000 (por proyecto).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Herramientas de desarrollo (NetBeans, licencias, software adicional): $500 - $1,500.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Hosting en Hostinger: $100 - $300 al año.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Dominio web: $10 - $50 al año.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Seguridad y certificados SSL: $50 - $100 al año.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 Total estimado de costos iniciales: $30,660 - $61,950 </a:t>
            </a:r>
          </a:p>
          <a:p>
            <a:r>
              <a:rPr lang="es-MX" b="1" dirty="0"/>
              <a:t>2.	Costos operativos anuales: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Mantenimiento del sitio web: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Actualizaciones y correcciones de errores: $2,000 - $5,000.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Hosting y dominio (anual): $100 - $300.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Seguridad adicional (copias de seguridad, firewall): $200 - $500. </a:t>
            </a:r>
          </a:p>
          <a:p>
            <a:r>
              <a:rPr lang="es-MX" dirty="0"/>
              <a:t>Total costos operativos anuales: $2,300 - $5,800 </a:t>
            </a:r>
          </a:p>
        </p:txBody>
      </p:sp>
    </p:spTree>
    <p:extLst>
      <p:ext uri="{BB962C8B-B14F-4D97-AF65-F5344CB8AC3E}">
        <p14:creationId xmlns:p14="http://schemas.microsoft.com/office/powerpoint/2010/main" val="423781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A84C3E1-232E-D802-7FBF-CABE8D88C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907141"/>
              </p:ext>
            </p:extLst>
          </p:nvPr>
        </p:nvGraphicFramePr>
        <p:xfrm>
          <a:off x="819467" y="313642"/>
          <a:ext cx="5219065" cy="109150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7441">
                  <a:extLst>
                    <a:ext uri="{9D8B030D-6E8A-4147-A177-3AD203B41FA5}">
                      <a16:colId xmlns:a16="http://schemas.microsoft.com/office/drawing/2014/main" val="2712538076"/>
                    </a:ext>
                  </a:extLst>
                </a:gridCol>
                <a:gridCol w="1490890">
                  <a:extLst>
                    <a:ext uri="{9D8B030D-6E8A-4147-A177-3AD203B41FA5}">
                      <a16:colId xmlns:a16="http://schemas.microsoft.com/office/drawing/2014/main" val="1624416659"/>
                    </a:ext>
                  </a:extLst>
                </a:gridCol>
                <a:gridCol w="1480734">
                  <a:extLst>
                    <a:ext uri="{9D8B030D-6E8A-4147-A177-3AD203B41FA5}">
                      <a16:colId xmlns:a16="http://schemas.microsoft.com/office/drawing/2014/main" val="1865385888"/>
                    </a:ext>
                  </a:extLst>
                </a:gridCol>
              </a:tblGrid>
              <a:tr h="594977"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07000"/>
                        </a:lnSpc>
                        <a:spcAft>
                          <a:spcPts val="770"/>
                        </a:spcAft>
                      </a:pPr>
                      <a:r>
                        <a:rPr lang="es-MX" sz="1200" kern="100" dirty="0">
                          <a:effectLst/>
                        </a:rPr>
                        <a:t>-Optimización de UX/UI para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kern="100" dirty="0">
                          <a:effectLst/>
                        </a:rPr>
                        <a:t>Sucursales </a:t>
                      </a:r>
                    </a:p>
                    <a:p>
                      <a:pPr marL="6350" marR="190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-Adaptación a </a:t>
                      </a:r>
                      <a:r>
                        <a:rPr lang="es-MX" sz="1200" kern="100" dirty="0" err="1">
                          <a:effectLst/>
                        </a:rPr>
                        <a:t>tablets</a:t>
                      </a:r>
                      <a:r>
                        <a:rPr lang="es-MX" sz="1200" kern="100" dirty="0">
                          <a:effectLst/>
                        </a:rPr>
                        <a:t> o  equipos de escritorio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kern="100" dirty="0">
                          <a:effectLst/>
                        </a:rPr>
                        <a:t> 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kern="100">
                          <a:effectLst/>
                        </a:rPr>
                        <a:t> 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3762080456"/>
                  </a:ext>
                </a:extLst>
              </a:tr>
              <a:tr h="1414219"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70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4. Base de Datos y Servidores en la Nube  </a:t>
                      </a:r>
                    </a:p>
                    <a:p>
                      <a:pPr marL="6350" indent="-6350" algn="l">
                        <a:lnSpc>
                          <a:spcPct val="15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-Configuración de servidores en la nube (AWS, Azure, Google Cloud) </a:t>
                      </a:r>
                    </a:p>
                    <a:p>
                      <a:pPr marL="6350" indent="-6350" algn="just">
                        <a:lnSpc>
                          <a:spcPct val="107000"/>
                        </a:lnSpc>
                        <a:spcAft>
                          <a:spcPts val="765"/>
                        </a:spcAft>
                      </a:pPr>
                      <a:r>
                        <a:rPr lang="es-MX" sz="1200" kern="100" dirty="0">
                          <a:effectLst/>
                        </a:rPr>
                        <a:t>-Implementación de Base de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95"/>
                        </a:spcAft>
                      </a:pPr>
                      <a:r>
                        <a:rPr lang="es-MX" sz="1200" kern="100" dirty="0">
                          <a:effectLst/>
                        </a:rPr>
                        <a:t>Datos 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(MySQL/PostgreSQL)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81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2 semanas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$30,000 MXN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2104934148"/>
                  </a:ext>
                </a:extLst>
              </a:tr>
              <a:tr h="1012958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715"/>
                        </a:spcAft>
                      </a:pPr>
                      <a:r>
                        <a:rPr lang="es-MX" sz="1200" kern="100">
                          <a:effectLst/>
                        </a:rPr>
                        <a:t>5. Pruebas y Control de Calidad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35"/>
                        </a:spcAft>
                        <a:tabLst>
                          <a:tab pos="161290" algn="ctr"/>
                          <a:tab pos="899795" algn="ctr"/>
                        </a:tabLst>
                      </a:pPr>
                      <a:r>
                        <a:rPr lang="es-MX" sz="1200" kern="100">
                          <a:effectLst/>
                        </a:rPr>
                        <a:t>	(QA)  	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675"/>
                        </a:spcAft>
                      </a:pPr>
                      <a:r>
                        <a:rPr lang="es-MX" sz="1200" kern="100">
                          <a:effectLst/>
                        </a:rPr>
                        <a:t>-Pruebas funcionales </a:t>
                      </a:r>
                    </a:p>
                    <a:p>
                      <a:pPr marL="6350" indent="-6350" algn="l">
                        <a:lnSpc>
                          <a:spcPct val="16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-Pruebas 	de 	carga 	y rendimiento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-Pruebas de usabilidad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81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3 semanas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570"/>
                        </a:spcAft>
                      </a:pPr>
                      <a:r>
                        <a:rPr lang="es-MX" sz="1200" kern="100">
                          <a:effectLst/>
                        </a:rPr>
                        <a:t>$20,000 MXN </a:t>
                      </a:r>
                    </a:p>
                    <a:p>
                      <a:pPr marL="6350" marR="63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1920528692"/>
                  </a:ext>
                </a:extLst>
              </a:tr>
              <a:tr h="684206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695"/>
                        </a:spcAft>
                      </a:pPr>
                      <a:r>
                        <a:rPr lang="es-MX" sz="1200" kern="100">
                          <a:effectLst/>
                        </a:rPr>
                        <a:t>6.Despliegue, Implementación </a:t>
                      </a:r>
                    </a:p>
                    <a:p>
                      <a:pPr marL="6350" indent="-6350" algn="l">
                        <a:lnSpc>
                          <a:spcPct val="166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-Instalación 	en 	todas 	las sucursales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-Capacitación del personal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254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1 semana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590"/>
                        </a:spcAft>
                      </a:pPr>
                      <a:r>
                        <a:rPr lang="es-MX" sz="1200" kern="100">
                          <a:effectLst/>
                        </a:rPr>
                        <a:t>$15,000 MXN </a:t>
                      </a:r>
                    </a:p>
                    <a:p>
                      <a:pPr marL="6350" marR="63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4192097513"/>
                  </a:ext>
                </a:extLst>
              </a:tr>
              <a:tr h="1088248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69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7. Mantenimiento y Soporte Técnico  </a:t>
                      </a:r>
                    </a:p>
                    <a:p>
                      <a:pPr marL="6350" indent="-6350" algn="l">
                        <a:lnSpc>
                          <a:spcPct val="166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-Soporte 	técnico 	postlanzamiento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570"/>
                        </a:spcAft>
                      </a:pPr>
                      <a:r>
                        <a:rPr lang="es-MX" sz="1200" kern="100">
                          <a:effectLst/>
                        </a:rPr>
                        <a:t>-Actualizaciones menores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508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Continuo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$15,000 MXN/mes meses incluidos)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903947573"/>
                  </a:ext>
                </a:extLst>
              </a:tr>
              <a:tr h="298023">
                <a:tc>
                  <a:txBody>
                    <a:bodyPr/>
                    <a:lstStyle/>
                    <a:p>
                      <a:pPr marL="6350" indent="-6350" algn="just">
                        <a:lnSpc>
                          <a:spcPct val="107000"/>
                        </a:lnSpc>
                        <a:spcAft>
                          <a:spcPts val="745"/>
                        </a:spcAft>
                      </a:pPr>
                      <a:r>
                        <a:rPr lang="es-MX" sz="1200" kern="100">
                          <a:effectLst/>
                        </a:rPr>
                        <a:t>8.Herramientas de software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  <a:tabLst>
                          <a:tab pos="325120" algn="ctr"/>
                          <a:tab pos="899795" algn="ctr"/>
                          <a:tab pos="1349375" algn="ctr"/>
                        </a:tabLst>
                      </a:pPr>
                      <a:r>
                        <a:rPr lang="es-MX" sz="1200" kern="100">
                          <a:effectLst/>
                        </a:rPr>
                        <a:t>	Netbeans 	 	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508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Continuo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445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$2605 MXN/mes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927164887"/>
                  </a:ext>
                </a:extLst>
              </a:tr>
              <a:tr h="149724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9. Servicios 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508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Continuo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445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$1860 MXN/mes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3176864986"/>
                  </a:ext>
                </a:extLst>
              </a:tr>
              <a:tr h="524428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66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-Energía 	de 	equipos 	de cómputo.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-Internet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kern="100">
                          <a:effectLst/>
                        </a:rPr>
                        <a:t> 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MX" sz="1200" kern="100">
                          <a:effectLst/>
                        </a:rPr>
                        <a:t> 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2945075891"/>
                  </a:ext>
                </a:extLst>
              </a:tr>
              <a:tr h="299805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10"/>
                        </a:spcAft>
                        <a:tabLst>
                          <a:tab pos="2152650" algn="r"/>
                        </a:tabLst>
                      </a:pPr>
                      <a:r>
                        <a:rPr lang="es-MX" sz="1200" kern="100">
                          <a:effectLst/>
                        </a:rPr>
                        <a:t>10.Hardware 	para </a:t>
                      </a:r>
                    </a:p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implementarlo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254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Único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$31,996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3295137125"/>
                  </a:ext>
                </a:extLst>
              </a:tr>
              <a:tr h="151150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11.Reserva de contingencia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254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Único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18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$10,000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1154292769"/>
                  </a:ext>
                </a:extLst>
              </a:tr>
              <a:tr h="149724">
                <a:tc>
                  <a:txBody>
                    <a:bodyPr/>
                    <a:lstStyle/>
                    <a:p>
                      <a:pPr marL="6350" indent="-6350" algn="l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Total del proyecto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3815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>
                          <a:effectLst/>
                        </a:rPr>
                        <a:t>23 semanas </a:t>
                      </a:r>
                      <a:endParaRPr lang="es-MX" sz="1200" kern="1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tc>
                  <a:txBody>
                    <a:bodyPr/>
                    <a:lstStyle/>
                    <a:p>
                      <a:pPr marL="6350" marR="45720" indent="-6350" algn="ctr">
                        <a:lnSpc>
                          <a:spcPct val="107000"/>
                        </a:lnSpc>
                        <a:spcAft>
                          <a:spcPts val="855"/>
                        </a:spcAft>
                      </a:pPr>
                      <a:r>
                        <a:rPr lang="es-MX" sz="1200" kern="100" dirty="0">
                          <a:effectLst/>
                        </a:rPr>
                        <a:t>$345,761 MXN </a:t>
                      </a:r>
                      <a:endParaRPr lang="es-MX" sz="1200" kern="1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38501" marR="15329" marT="17468" marB="0"/>
                </a:tc>
                <a:extLst>
                  <a:ext uri="{0D108BD9-81ED-4DB2-BD59-A6C34878D82A}">
                    <a16:rowId xmlns:a16="http://schemas.microsoft.com/office/drawing/2014/main" val="3324992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85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75F21C2-ED7B-E202-7D0F-4E120B1EC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84" y="1894990"/>
            <a:ext cx="5955632" cy="3816000"/>
          </a:xfrm>
        </p:spPr>
        <p:txBody>
          <a:bodyPr/>
          <a:lstStyle/>
          <a:p>
            <a:r>
              <a:rPr lang="es-MX" sz="6000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ROI (RECUPERACIÓN DE INVERSIÓN)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459D0A-E459-3CE0-AFDD-21709F6A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49" y="5918578"/>
            <a:ext cx="4181101" cy="322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5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A65CDF-B6EA-AE2F-39B8-8F3128E3F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57" y="1046747"/>
            <a:ext cx="6160169" cy="84457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2000" dirty="0"/>
              <a:t> 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Beneficio neto (en 1 año): 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Beneficio neto=Beneficios anuales−Costos operativos=48,000−5,800=42,200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Beneficio neto=Beneficios anuales−Costos operativos=48,000−5,800=42,200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Costo total de la inversión (1er año): 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Costo total=Costos iniciales + Costos operativos=30,660+5,800=36,460 ROI: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Un ROI superior al 100% es una buena señal, indicando que el proyecto podría recuperar la inversión y generar beneficios en el primer año.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Beneficio anual neto: $42,200. 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Costo inicial: $30,660. </a:t>
            </a:r>
          </a:p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Tasa de descuento: 10% (0.10).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ROI de aproximadamente 115.7% en el primer año indica que la inversión sería recuperada rápidamente.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El VPN positivo proyecta una alta viabilidad financiera en un horizonte de 5 años. </a:t>
            </a:r>
          </a:p>
          <a:p>
            <a:pPr marL="0" indent="0" algn="just">
              <a:buNone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Los principales beneficios son el aumento de ventas en línea y la automatización de procesos, lo que reduciría costos y aumentaría la eficiencia.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575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BB4E4C8-82EF-7057-4598-2CE39F832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84" y="1894990"/>
            <a:ext cx="5955632" cy="3816000"/>
          </a:xfrm>
        </p:spPr>
        <p:txBody>
          <a:bodyPr/>
          <a:lstStyle/>
          <a:p>
            <a:r>
              <a:rPr lang="es-MX" sz="6000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SUELDO A INTEGRANTES DEL EQUIPO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BD4471-C15D-9859-B2DB-A0775C01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58" y="5942597"/>
            <a:ext cx="4188327" cy="314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62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05D20-A9B2-E571-053D-DA18AD49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83" y="2800684"/>
            <a:ext cx="5400675" cy="6366933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• Desarrollador: $177 pesos por hora.</a:t>
            </a:r>
          </a:p>
          <a:p>
            <a:pPr marL="0" indent="0">
              <a:buNone/>
            </a:pPr>
            <a:r>
              <a:rPr lang="es-MX" sz="2800" dirty="0"/>
              <a:t>• Diseñador: $640 pesos por hora.</a:t>
            </a:r>
          </a:p>
          <a:p>
            <a:pPr marL="0" indent="0">
              <a:buNone/>
            </a:pPr>
            <a:r>
              <a:rPr lang="es-MX" sz="2800" dirty="0"/>
              <a:t>• PM:$456 pesos por hora</a:t>
            </a:r>
          </a:p>
          <a:p>
            <a:pPr marL="0" indent="0">
              <a:buNone/>
            </a:pPr>
            <a:endParaRPr lang="es-MX" sz="2800" dirty="0"/>
          </a:p>
          <a:p>
            <a:pPr marL="0" indent="0">
              <a:buNone/>
            </a:pPr>
            <a:r>
              <a:rPr lang="es-MX" sz="2800" dirty="0"/>
              <a:t>PM=138*456=$62,928</a:t>
            </a:r>
          </a:p>
          <a:p>
            <a:pPr marL="0" indent="0">
              <a:buNone/>
            </a:pPr>
            <a:r>
              <a:rPr lang="es-MX" sz="2800" dirty="0"/>
              <a:t>DESARROLLADOR=450*177=$79,650</a:t>
            </a:r>
          </a:p>
          <a:p>
            <a:pPr marL="0" indent="0">
              <a:buNone/>
            </a:pPr>
            <a:r>
              <a:rPr lang="es-MX" sz="2800" dirty="0"/>
              <a:t>DISEÑADOR=100*460=$46,000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79687527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44</TotalTime>
  <Words>708</Words>
  <Application>Microsoft Office PowerPoint</Application>
  <PresentationFormat>Panorámica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Recorte</vt:lpstr>
      <vt:lpstr>DULCERÍA WEB</vt:lpstr>
      <vt:lpstr>CRONOGRAMA</vt:lpstr>
      <vt:lpstr>Presentación de PowerPoint</vt:lpstr>
      <vt:lpstr>HORAS DEDICADAS AL PROYECTO</vt:lpstr>
      <vt:lpstr>Presentación de PowerPoint</vt:lpstr>
      <vt:lpstr>VIABILIDAD ECONÓMICA</vt:lpstr>
      <vt:lpstr>Presentación de PowerPoint</vt:lpstr>
      <vt:lpstr>Presentación de PowerPoint</vt:lpstr>
      <vt:lpstr>ROI (RECUPERACIÓN DE INVERSIÓN)</vt:lpstr>
      <vt:lpstr>Presentación de PowerPoint</vt:lpstr>
      <vt:lpstr>SUELDO A INTEGRANTES DEL EQUIPO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ALEJANDRA GOMEZ GARCIA</dc:creator>
  <cp:lastModifiedBy>ELIZABETH ALEJANDRA GOMEZ GARCIA</cp:lastModifiedBy>
  <cp:revision>1</cp:revision>
  <dcterms:created xsi:type="dcterms:W3CDTF">2024-11-22T05:27:42Z</dcterms:created>
  <dcterms:modified xsi:type="dcterms:W3CDTF">2024-11-22T06:12:02Z</dcterms:modified>
</cp:coreProperties>
</file>